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AUTOMATION TESTING MASTERCLASS</a:t>
            </a:r>
          </a:p>
          <a:p>
            <a:pPr>
              <a:spcAft>
                <a:spcPts val="1600"/>
              </a:spcAft>
              <a:defRPr sz="3600" b="1">
                <a:solidFill>
                  <a:srgbClr val="0F172A"/>
                </a:solidFill>
                <a:latin typeface="Segoe UI"/>
              </a:defRPr>
            </a:pPr>
            <a:r>
              <a:t>Selenium WebDriver with Python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A Complete Guide to Web Automation, Locators, UI Interactions, Advanced Actions, and Synchronization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754880"/>
            <a:ext cx="2331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Core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4754880"/>
            <a:ext cx="2331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8 Locator Strategies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754880"/>
            <a:ext cx="2331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UI Element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754880"/>
            <a:ext cx="2331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ActionChains &amp; Synchronization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Introduction to Selenium &amp;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Foundational concepts and advantages of automating browsers with Selenium WebDriver.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What is Selenium WebDriver?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Selenium Overview: </a:t>
            </a:r>
            <a:r>
              <a:rPr b="0" sz="1300">
                <a:solidFill>
                  <a:srgbClr val="334155"/>
                </a:solidFill>
                <a:latin typeface="Segoe UI"/>
              </a:rPr>
              <a:t>A powerful open-source tool for controlling web browsers programmatically and performing browser automation.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Primary Usage: </a:t>
            </a:r>
            <a:r>
              <a:rPr b="0" sz="1300">
                <a:solidFill>
                  <a:srgbClr val="334155"/>
                </a:solidFill>
                <a:latin typeface="Segoe UI"/>
              </a:rPr>
              <a:t>Primarily used for automated testing of web applications, but fully capable of executing any web-based automated task.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Selenium WebDriver: </a:t>
            </a:r>
            <a:r>
              <a:rPr b="0" sz="1300">
                <a:solidFill>
                  <a:srgbClr val="334155"/>
                </a:solidFill>
                <a:latin typeface="Segoe UI"/>
              </a:rPr>
              <a:t>An open-source API allowing test execution against multiple browsers including Chrome, Firefox, Safari, and 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Advantages with Python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Easy Python Integration: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Supports Python natively with simple and intuitive APIs, making test script creation fast and readable.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Cross-Browser &amp; Cross-Platform: </a:t>
            </a:r>
            <a:r>
              <a:rPr b="0" sz="1300">
                <a:solidFill>
                  <a:srgbClr val="334155"/>
                </a:solidFill>
                <a:latin typeface="Segoe UI"/>
              </a:rPr>
              <a:t>Tests run consistently across diverse operating systems and modern browser engines to guarantee compatibility.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Rich Web Element Access: </a:t>
            </a:r>
            <a:r>
              <a:rPr b="0" sz="1300">
                <a:solidFill>
                  <a:srgbClr val="334155"/>
                </a:solidFill>
                <a:latin typeface="Segoe UI"/>
              </a:rPr>
              <a:t>Provides comprehensive locator strategies to inspect, click, type, and extract data from any web element.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Elements &amp; Locators in Web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Understanding how Selenium identifies and interacts with objects on a web page.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Web Elements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Definition: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Any interactive or static object residing within the webpage Document Object Model (DOM).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Examples: </a:t>
            </a:r>
            <a:r>
              <a:rPr b="0" sz="1300">
                <a:solidFill>
                  <a:srgbClr val="334155"/>
                </a:solidFill>
                <a:latin typeface="Segoe UI"/>
              </a:rPr>
              <a:t>Input text boxes, buttons, hyperlinks, images, dropdown lists, radio buttons, checkboxes, and frames.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Interaction Goal: </a:t>
            </a:r>
            <a:r>
              <a:rPr b="0" sz="1300">
                <a:solidFill>
                  <a:srgbClr val="334155"/>
                </a:solidFill>
                <a:latin typeface="Segoe UI"/>
              </a:rPr>
              <a:t>Performing simulated user gestures such as clicking, sending keystrokes, clearing values, and reading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Locators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Definition: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The specific query strategy or address mechanism used to uniquely find and target web elements.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DOM Attributes: </a:t>
            </a:r>
            <a:r>
              <a:rPr b="0" sz="1300">
                <a:solidFill>
                  <a:srgbClr val="334155"/>
                </a:solidFill>
                <a:latin typeface="Segoe UI"/>
              </a:rPr>
              <a:t>Leverages element attributes (ID, Name, Class, Tag) or structured hierarchy (CSS, XPath).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Automation Cycle: </a:t>
            </a:r>
            <a:r>
              <a:rPr b="0" sz="1300">
                <a:solidFill>
                  <a:srgbClr val="334155"/>
                </a:solidFill>
                <a:latin typeface="Segoe UI"/>
              </a:rPr>
              <a:t>1. Locate the element in DOM -&gt; 2. Perform target action -&gt; 3. Validate expected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WEBDRIVER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Commands for Finding Web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Essential methods to search for single or multiple elements within the active DOM.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find_element() Method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Method Purpose: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Searches for a single web element matching the specified locator strategy in the active page.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Return Value: </a:t>
            </a:r>
            <a:r>
              <a:rPr b="0" sz="1300">
                <a:solidFill>
                  <a:srgbClr val="334155"/>
                </a:solidFill>
                <a:latin typeface="Segoe UI"/>
              </a:rPr>
              <a:t>Returns the first matching WebElement found in the DOM hierarchy.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Exception Behavior: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Throws NoSuchElementException if no matching element is found on the page.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Typical Usage: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Used when targeting unique UI elements like a Login Button or a specific Username input field.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find_elements() Method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Method Purpose: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Searches for all web elements matching the specified locator criteria across the entire page.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Return Value: </a:t>
            </a:r>
            <a:r>
              <a:rPr b="0" sz="1300">
                <a:solidFill>
                  <a:srgbClr val="334155"/>
                </a:solidFill>
                <a:latin typeface="Segoe UI"/>
              </a:rPr>
              <a:t>Returns a Python list of WebElements matching the locator.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Exception Behavior: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Does NOT throw an exception if no elements match; instead, returns an empty list [].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Typical Usage: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Used for counting items, extracting all links, validating table rows, or batch processing checkboxes.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WEBDRIVER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Commands for Interacting with Web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Primary action methods for simulating user keystrokes, clicks, and form submissions.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71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send_keys()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Purpose: </a:t>
            </a:r>
            <a:r>
              <a:rPr b="0" sz="1300">
                <a:solidFill>
                  <a:srgbClr val="334155"/>
                </a:solidFill>
                <a:latin typeface="Segoe UI"/>
              </a:rPr>
              <a:t>Simulates user typing and keyboard inputs into input fields or editable areas.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Behavior: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Appends characters into the target input box without clearing existing text.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Special Keys: </a:t>
            </a:r>
            <a:r>
              <a:rPr b="0" sz="1300">
                <a:solidFill>
                  <a:srgbClr val="334155"/>
                </a:solidFill>
                <a:latin typeface="Segoe UI"/>
              </a:rPr>
              <a:t>Supports special keyboard keys (Enter, Tab, Backspace) via Keys module.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375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71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click()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Purpose: </a:t>
            </a:r>
            <a:r>
              <a:rPr b="0" sz="1300">
                <a:solidFill>
                  <a:srgbClr val="334155"/>
                </a:solidFill>
                <a:latin typeface="Segoe UI"/>
              </a:rPr>
              <a:t>Simulates a standard mouse click on any interactive element.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Applicability: </a:t>
            </a:r>
            <a:r>
              <a:rPr b="0" sz="1300">
                <a:solidFill>
                  <a:srgbClr val="334155"/>
                </a:solidFill>
                <a:latin typeface="Segoe UI"/>
              </a:rPr>
              <a:t>Works on buttons, links, radio buttons, checkboxes, and menu items.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Requirement: </a:t>
            </a:r>
            <a:r>
              <a:rPr b="0" sz="1300">
                <a:solidFill>
                  <a:srgbClr val="334155"/>
                </a:solidFill>
                <a:latin typeface="Segoe UI"/>
              </a:rPr>
              <a:t>The target element must be visible, enabled, and clickable in viewport.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3375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92024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2971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submit()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Purpose: </a:t>
            </a:r>
            <a:r>
              <a:rPr b="0" sz="1300">
                <a:solidFill>
                  <a:srgbClr val="334155"/>
                </a:solidFill>
                <a:latin typeface="Segoe UI"/>
              </a:rPr>
              <a:t>Submits a web form directly from the form or any child element inside it.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Behavior: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Acts like pressing Enter on a form field to trigger server submission.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Exception: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Throws ElementNotInteractableException if element has no enclosing 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LOCATOR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Overview of Locators in Selenium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Summary of standard and advanced locator mechanisms available in Selenium WebDriver.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Standard Attribute Locators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ID Locator: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Finds element by unique id attribute. Fastest and most reliable choice.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Name Locator: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Locates element by name attribute. Highly effective in standard form fields.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Class Name Locator: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Matches CSS class attribute. Useful for targeting styled groups.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Tag Name Locator: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Matches HTML tag (e.g. &lt;a&gt;, &lt;input&gt;). Best for gathering lists of elements.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Link Text / Partial: </a:t>
            </a:r>
            <a:r>
              <a:rPr b="0" sz="1300">
                <a:solidFill>
                  <a:srgbClr val="334155"/>
                </a:solidFill>
                <a:latin typeface="Segoe UI"/>
              </a:rPr>
              <a:t>Matches exact or partial visible text of anchor (&lt;a&gt;) hyperlinks.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Advanced Structural Locators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CSS Selector: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Combines tags, IDs, classes, and hierarchy. Fast, flexible, and widely supported across browsers.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XPath Locator: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Navigates XML/HTML DOM trees. Supports complex relationships, parent/sibling traversal, and text matching.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Selection Best Practice: </a:t>
            </a:r>
            <a:r>
              <a:rPr b="0" sz="1300">
                <a:solidFill>
                  <a:srgbClr val="334155"/>
                </a:solidFill>
                <a:latin typeface="Segoe UI"/>
              </a:rPr>
              <a:t>Always prioritize ID &gt; Name &gt; CSS Selector &gt; XPath for speed, stability, and maintainability.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LOCATORS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ID Locators: Properties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Why ID is the preferred locator strategy and key considerations for reliable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Core Advantages of ID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Uniqueness Principle: </a:t>
            </a:r>
            <a:r>
              <a:rPr b="0" sz="1300">
                <a:solidFill>
                  <a:srgbClr val="334155"/>
                </a:solidFill>
                <a:latin typeface="Segoe UI"/>
              </a:rPr>
              <a:t>HTML standards specify that an element ID should be unique within a web page.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Execution Speed: </a:t>
            </a:r>
            <a:r>
              <a:rPr b="0" sz="1300">
                <a:solidFill>
                  <a:srgbClr val="334155"/>
                </a:solidFill>
                <a:latin typeface="Segoe UI"/>
              </a:rPr>
              <a:t>Locating by ID is the fastest lookup method because browser engines index IDs directly.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Script Simplicity: </a:t>
            </a:r>
            <a:r>
              <a:rPr b="0" sz="1300">
                <a:solidFill>
                  <a:srgbClr val="334155"/>
                </a:solidFill>
                <a:latin typeface="Segoe UI"/>
              </a:rPr>
              <a:t>Code remains concise, readable, and less prone to accidental multi-element mismatches.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Stability &amp; Considerations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Stability Requirement: </a:t>
            </a:r>
            <a:r>
              <a:rPr b="0" sz="1300">
                <a:solidFill>
                  <a:srgbClr val="334155"/>
                </a:solidFill>
                <a:latin typeface="Segoe UI"/>
              </a:rPr>
              <a:t>The ID attribute must remain constant across page reloads and user sessions.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Dynamic ID Warning: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Frameworks (like React/Angular) often generate dynamic IDs (e.g. id='btn_18294').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Handling Dynamic IDs: </a:t>
            </a:r>
            <a:r>
              <a:rPr b="0" sz="1300">
                <a:solidFill>
                  <a:srgbClr val="334155"/>
                </a:solidFill>
                <a:latin typeface="Segoe UI"/>
              </a:rPr>
              <a:t>Avoid using unstable auto-generated IDs; use CSS Selectors or XPath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LOCATORS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Name &amp; ClassName Locators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Utilizing form attributes and CSS styling classes to identify web elements.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Name Locator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Primary Usage: </a:t>
            </a:r>
            <a:r>
              <a:rPr b="0" sz="1300">
                <a:solidFill>
                  <a:srgbClr val="334155"/>
                </a:solidFill>
                <a:latin typeface="Segoe UI"/>
              </a:rPr>
              <a:t>Commonly found on HTML form controls (text boxes, radio buttons, checkboxes).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Radio Button Groups: </a:t>
            </a:r>
            <a:r>
              <a:rPr b="0" sz="1300">
                <a:solidFill>
                  <a:srgbClr val="334155"/>
                </a:solidFill>
                <a:latin typeface="Segoe UI"/>
              </a:rPr>
              <a:t>Radio button options frequently share identical name attributes with different values.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Reliability: </a:t>
            </a:r>
            <a:r>
              <a:rPr b="0" sz="1300">
                <a:solidFill>
                  <a:srgbClr val="334155"/>
                </a:solidFill>
                <a:latin typeface="Segoe UI"/>
              </a:rPr>
              <a:t>Reliable when name is unique in a form; avoid if generated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ClassName Locator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Primary Usage: </a:t>
            </a:r>
            <a:r>
              <a:rPr b="0" sz="1300">
                <a:solidFill>
                  <a:srgbClr val="334155"/>
                </a:solidFill>
                <a:latin typeface="Segoe UI"/>
              </a:rPr>
              <a:t>Locates elements sharing specific CSS styling classes or functional groupings.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Group Selection: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Useful when selecting lists of identically styled cards, badges, or list items.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Limitations: </a:t>
            </a:r>
            <a:r>
              <a:rPr b="0" sz="1300">
                <a:solidFill>
                  <a:srgbClr val="334155"/>
                </a:solidFill>
                <a:latin typeface="Segoe UI"/>
              </a:rPr>
              <a:t>Class names are rarely unique per page and modern web apps frequently use dynamic utility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LOCATORS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TagName &amp; LinkText Locators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Targeting HTML structural tags and hyperlinked text strings.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TagName Locator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HTML Tag Matching: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Selects elements matching a given tag type (e.g., &lt;a&gt;, &lt;button&gt;, &lt;input&gt;, &lt;img&gt;).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Group Processing: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Ideal for counting elements (e.g., total links) or verifying general page structure.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Best Practice: </a:t>
            </a:r>
            <a:r>
              <a:rPr b="0" sz="1300">
                <a:solidFill>
                  <a:srgbClr val="334155"/>
                </a:solidFill>
                <a:latin typeface="Segoe UI"/>
              </a:rPr>
              <a:t>Combine with contextual search or CSS selectors to narrow down specific elements.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LinkText Locator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Exact Text Matching: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Matches the exact visible text displayed within an anchor &lt;a&gt; hyperlink.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Readability: </a:t>
            </a:r>
            <a:r>
              <a:rPr b="0" sz="1300">
                <a:solidFill>
                  <a:srgbClr val="334155"/>
                </a:solidFill>
                <a:latin typeface="Segoe UI"/>
              </a:rPr>
              <a:t>Produces clean, human-readable test scripts when link labels are static and distinct.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Limitation: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Fails if link text changes (localization/updates) or contains untrimmed whitespace.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XPATH LOCATORS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XPath Fundamentals &amp;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Navigating complex DOM hierarchies using XML Path Language expressions.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Absolute XPath (Avoid)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Definition: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Traverses step-by-step from the document root node (/html/body/div[1]/form/input).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Syntax Indicator: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Starts with a single forward slash (/).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Major Drawback: </a:t>
            </a:r>
            <a:r>
              <a:rPr b="0" sz="1300">
                <a:solidFill>
                  <a:srgbClr val="334155"/>
                </a:solidFill>
                <a:latin typeface="Segoe UI"/>
              </a:rPr>
              <a:t>Extremely brittle; any minor change in UI layout or parent containers breaks the locator.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Relative XPath (Recommended)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Definition: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Searches anywhere within the DOM tree matching tag and attribute criteria.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Syntax Indicator: </a:t>
            </a:r>
            <a:r>
              <a:rPr b="0" sz="1300">
                <a:solidFill>
                  <a:srgbClr val="334155"/>
                </a:solidFill>
                <a:latin typeface="Segoe UI"/>
              </a:rPr>
              <a:t>Starts with a double forward slash (//), e.g., //input[@name='email'].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Key Advantage: </a:t>
            </a:r>
            <a:r>
              <a:rPr b="0" sz="1300">
                <a:solidFill>
                  <a:srgbClr val="334155"/>
                </a:solidFill>
                <a:latin typeface="Segoe UI"/>
              </a:rPr>
              <a:t>Resilient to changes in surrounding page structure; standard industry practice.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XPATH LOCATORS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XPath: Dynamic Elements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Techniques for crafting resilient queries and avoiding performance bottlenecks.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Dynamic Element Handling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Predicates &amp; Filters: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Uses bracketed conditions //button[@type='submit' and @id='login'] for high precision.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Text &amp; Partial Matching: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Leverages contains(@class, 'active') and starts-with(@id, 'user_') for dynamic elements.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DOM Axes Traversal: </a:t>
            </a:r>
            <a:r>
              <a:rPr b="0" sz="1300">
                <a:solidFill>
                  <a:srgbClr val="334155"/>
                </a:solidFill>
                <a:latin typeface="Segoe UI"/>
              </a:rPr>
              <a:t>Navigates parent, child, sibling, and ancestor nodes (e.g. //input/following-sibling::span).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Performance &amp; Best Practices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Performance Consideration: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Traversing extensive DOM hierarchies with XPath is computationally slower than ID/CSS.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Simplicity Principle: </a:t>
            </a:r>
            <a:r>
              <a:rPr b="0" sz="1300">
                <a:solidFill>
                  <a:srgbClr val="334155"/>
                </a:solidFill>
                <a:latin typeface="Segoe UI"/>
              </a:rPr>
              <a:t>Write concise relative paths; avoid overly nested expressions that reduce test speed.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Maintainability: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 meaningful attribute matches rather than index-heavy chains (e.g. avoid div[3]/div[2]).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FORM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Handling Radio Buttons &amp; Checkboxes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Techniques to locate, select, and verify states of standard form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Radio Buttons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HTML Definition: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Defined by &lt;input type='radio'&gt;. Options in a group share identical name attributes.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Single Selection: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Only one radio button within a given group can be active at any given time.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Key Methods: </a:t>
            </a:r>
            <a:r>
              <a:rPr b="0" sz="1300">
                <a:solidFill>
                  <a:srgbClr val="334155"/>
                </a:solidFill>
                <a:latin typeface="Segoe UI"/>
              </a:rPr>
              <a:t>click() to select the desired radio button; is_selected() returns True/False for state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Checkboxes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HTML Definition: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Defined by &lt;input type='checkbox'&gt;. Represents independent toggles.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Multi-Selection: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Users can select none, one, or multiple checkboxes concurrently.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Interaction Logic: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 click() to toggle state; check is_selected() before clicking if a specific state is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FORM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Handling Dropdowns with Select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Interacting with standard HTML &lt;select&gt; elements using Selenium Select helper.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Select Class Overview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Select Class Support: </a:t>
            </a:r>
            <a:r>
              <a:rPr b="0" sz="1300">
                <a:solidFill>
                  <a:srgbClr val="334155"/>
                </a:solidFill>
                <a:latin typeface="Segoe UI"/>
              </a:rPr>
              <a:t>Imported from selenium.webdriver.support.ui.Select to simplify dropdown actions.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HTML Structure: </a:t>
            </a:r>
            <a:r>
              <a:rPr b="0" sz="1300">
                <a:solidFill>
                  <a:srgbClr val="334155"/>
                </a:solidFill>
                <a:latin typeface="Segoe UI"/>
              </a:rPr>
              <a:t>Operates on &lt;select&gt; parent tags containing child &lt;option&gt; elements.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Instantiation: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Wrap the target WebElement inside the Select object: sel = Select(element).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Key Selection Methods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select_by_visible_text(text):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Selects an option based on the text displayed to the user.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select_by_value(value):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Selects an option based on its HTML value attribute.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select_by_index(index):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Selects an option based on its zero-based index position.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deselect_all(): </a:t>
            </a:r>
            <a:r>
              <a:rPr b="0" sz="1300">
                <a:solidFill>
                  <a:srgbClr val="334155"/>
                </a:solidFill>
                <a:latin typeface="Segoe UI"/>
              </a:rPr>
              <a:t>Clears all selected options (applicable to multi-select dropdowns).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POPUP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Handling JavaScript Alerts &amp; Popups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Managing browser native modal dialogs using Selenium alert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971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Alert Box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Description: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Simple information alert displaying a text message and a single confirmation button.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User Interaction: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User can only acknowledge the alert by clicking the OK button.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Selenium Action: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driver.switch_to.alert.accept()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375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71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Confirmation Box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Description: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Modal asking for user verification with two choices: OK and Cancel.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User Interaction: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Allows either approving or dismissing the action.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Selenium Actions: </a:t>
            </a:r>
            <a:r>
              <a:rPr b="0" sz="1300">
                <a:solidFill>
                  <a:srgbClr val="334155"/>
                </a:solidFill>
                <a:latin typeface="Segoe UI"/>
              </a:rPr>
              <a:t>accept() for OK; dismiss() for Cancel.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3375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92024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2971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Prompt Box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Description: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Input dialog prompting user to enter text along with OK and Cancel options.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User Interaction: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Accepts text string input prior to confirming or cancelling.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Selenium Actions: </a:t>
            </a:r>
            <a:r>
              <a:rPr b="0" sz="1300">
                <a:solidFill>
                  <a:srgbClr val="334155"/>
                </a:solidFill>
                <a:latin typeface="Segoe UI"/>
              </a:rPr>
              <a:t>send_keys('text'), then accept() or dismiss().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WINDOW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Navigating Multiple Windows &amp;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Switching context and executing actions across multiple browser tabs and windows.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Window Handling Architecture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Multi-Window Concept: </a:t>
            </a:r>
            <a:r>
              <a:rPr b="0" sz="1300">
                <a:solidFill>
                  <a:srgbClr val="334155"/>
                </a:solidFill>
                <a:latin typeface="Segoe UI"/>
              </a:rPr>
              <a:t>Modern web apps open links/actions in new tabs or popup windows (e.g. target='_blank').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Window Handles: </a:t>
            </a:r>
            <a:r>
              <a:rPr b="0" sz="1300">
                <a:solidFill>
                  <a:srgbClr val="334155"/>
                </a:solidFill>
                <a:latin typeface="Segoe UI"/>
              </a:rPr>
              <a:t>Each open window or tab has a unique alphanumeric identifier (driver.window_handles).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Context Switching: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WebDriver remains attached to the original window until explicitly instructed to switch.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Step-by-Step Workflow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1: Store Main Handle: </a:t>
            </a:r>
            <a:r>
              <a:rPr b="0" sz="1300">
                <a:solidFill>
                  <a:srgbClr val="334155"/>
                </a:solidFill>
                <a:latin typeface="Segoe UI"/>
              </a:rPr>
              <a:t>Record original window handle via driver.current_window_handle.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2: Trigger New Window: </a:t>
            </a:r>
            <a:r>
              <a:rPr b="0" sz="1300">
                <a:solidFill>
                  <a:srgbClr val="334155"/>
                </a:solidFill>
                <a:latin typeface="Segoe UI"/>
              </a:rPr>
              <a:t>Perform action (e.g. clicking a link) opening a new tab.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3: Switch Control: </a:t>
            </a:r>
            <a:r>
              <a:rPr b="0" sz="1300">
                <a:solidFill>
                  <a:srgbClr val="334155"/>
                </a:solidFill>
                <a:latin typeface="Segoe UI"/>
              </a:rPr>
              <a:t>Switch context using driver.switch_to.window(new_window_handle).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4: Interact &amp; Close: </a:t>
            </a:r>
            <a:r>
              <a:rPr b="0" sz="1300">
                <a:solidFill>
                  <a:srgbClr val="334155"/>
                </a:solidFill>
                <a:latin typeface="Segoe UI"/>
              </a:rPr>
              <a:t>Execute required tasks, close tab (driver.close()), and switch back to main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FRAME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Handling Iframes &amp; Nested Iframes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Navigating embedded documents and multi-level iframe hierarchies.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Understanding Iframes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Iframe Concept: </a:t>
            </a:r>
            <a:r>
              <a:rPr b="0" sz="1300">
                <a:solidFill>
                  <a:srgbClr val="334155"/>
                </a:solidFill>
                <a:latin typeface="Segoe UI"/>
              </a:rPr>
              <a:t>An HTML document embedded inside another HTML document on the webpage.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Nested Iframes: </a:t>
            </a:r>
            <a:r>
              <a:rPr b="0" sz="1300">
                <a:solidFill>
                  <a:srgbClr val="334155"/>
                </a:solidFill>
                <a:latin typeface="Segoe UI"/>
              </a:rPr>
              <a:t>An iframe placed inside another parent iframe, creating a multi-layer hierarchy.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Context Isolation: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WebDriver cannot directly find elements inside an iframe without switching context into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Steps for Nested Iframes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1: Switch to 1st Frame: </a:t>
            </a:r>
            <a:r>
              <a:rPr b="0" sz="1300">
                <a:solidFill>
                  <a:srgbClr val="334155"/>
                </a:solidFill>
                <a:latin typeface="Segoe UI"/>
              </a:rPr>
              <a:t>Switch context to parent iframe: driver.switch_to.frame(frame_id_or_element).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2: Switch to Nested Frame: </a:t>
            </a:r>
            <a:r>
              <a:rPr b="0" sz="1300">
                <a:solidFill>
                  <a:srgbClr val="334155"/>
                </a:solidFill>
                <a:latin typeface="Segoe UI"/>
              </a:rPr>
              <a:t>From the parent iframe context, switch into the child nested iframe.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3: Interact with Elements: </a:t>
            </a:r>
            <a:r>
              <a:rPr b="0" sz="1300">
                <a:solidFill>
                  <a:srgbClr val="334155"/>
                </a:solidFill>
                <a:latin typeface="Segoe UI"/>
              </a:rPr>
              <a:t>Perform required actions (fill inputs, click buttons) inside the nested frame.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4: Return to Main Page: </a:t>
            </a:r>
            <a:r>
              <a:rPr b="0" sz="1300">
                <a:solidFill>
                  <a:srgbClr val="334155"/>
                </a:solidFill>
                <a:latin typeface="Segoe UI"/>
              </a:rPr>
              <a:t>Reset context back to main page: driver.switch_to.default_content().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ADVANCED USER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ActionChains &amp; Right-Click (Context Click)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Simulating low-level mouse gestures and context menu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Understanding ActionChains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ActionChains Concept: </a:t>
            </a:r>
            <a:r>
              <a:rPr b="0" sz="1300">
                <a:solidFill>
                  <a:srgbClr val="334155"/>
                </a:solidFill>
                <a:latin typeface="Segoe UI"/>
              </a:rPr>
              <a:t>Automates complex, low-level user interactions including mouse movements and keypresses.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Action Queueing: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Chains together multiple sequential actions before executing them as a batch.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The perform() Rule: </a:t>
            </a:r>
            <a:r>
              <a:rPr b="0" sz="1300">
                <a:solidFill>
                  <a:srgbClr val="334155"/>
                </a:solidFill>
                <a:latin typeface="Segoe UI"/>
              </a:rPr>
              <a:t>Actions are only recorded in a queue until .perform() is explicitly called on the 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Steps to Perform Right-Click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1: Instantiate Chain: </a:t>
            </a:r>
            <a:r>
              <a:rPr b="0" sz="1300">
                <a:solidFill>
                  <a:srgbClr val="334155"/>
                </a:solidFill>
                <a:latin typeface="Segoe UI"/>
              </a:rPr>
              <a:t>Create an instance: actions = ActionChains(driver).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2: Add Context Click: </a:t>
            </a:r>
            <a:r>
              <a:rPr b="0" sz="1300">
                <a:solidFill>
                  <a:srgbClr val="334155"/>
                </a:solidFill>
                <a:latin typeface="Segoe UI"/>
              </a:rPr>
              <a:t>Queue right-click method: actions.context_click(target_element).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3: Execute Action: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Trigger execution on browser: actions.perform().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Target Flexibility: </a:t>
            </a:r>
            <a:r>
              <a:rPr b="0" sz="1300">
                <a:solidFill>
                  <a:srgbClr val="334155"/>
                </a:solidFill>
                <a:latin typeface="Segoe UI"/>
              </a:rPr>
              <a:t>Can target a specific WebElement or the current mouse cursor coordinates.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ADVANCED USER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Mouse Hover &amp; Drag-and-Drop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Automating hover triggers, dynamic sub-menus, and element dragging.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Mouse Hover (Mouse-Over)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Mouse Hover Purpose: </a:t>
            </a:r>
            <a:r>
              <a:rPr b="0" sz="1300">
                <a:solidFill>
                  <a:srgbClr val="334155"/>
                </a:solidFill>
                <a:latin typeface="Segoe UI"/>
              </a:rPr>
              <a:t>Moves cursor over an element without clicking to reveal tooltips or hidden sub-menus.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Method Used: </a:t>
            </a:r>
            <a:r>
              <a:rPr b="0" sz="1300">
                <a:solidFill>
                  <a:srgbClr val="334155"/>
                </a:solidFill>
                <a:latin typeface="Segoe UI"/>
              </a:rPr>
              <a:t>move_to_element(element) queues the cursor movement over the target.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Execution Flow: </a:t>
            </a:r>
            <a:r>
              <a:rPr b="0" sz="1300">
                <a:solidFill>
                  <a:srgbClr val="334155"/>
                </a:solidFill>
                <a:latin typeface="Segoe UI"/>
              </a:rPr>
              <a:t>ActionChains(driver).move_to_element(menu).perform() reveals submenu items for clicking.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Drag and Drop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Drag-and-Drop Mechanics: </a:t>
            </a:r>
            <a:r>
              <a:rPr b="0" sz="1300">
                <a:solidFill>
                  <a:srgbClr val="334155"/>
                </a:solidFill>
                <a:latin typeface="Segoe UI"/>
              </a:rPr>
              <a:t>Involves clicking and holding source element, moving to destination, and releasing.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Built-in Method: </a:t>
            </a:r>
            <a:r>
              <a:rPr b="0" sz="1300">
                <a:solidFill>
                  <a:srgbClr val="334155"/>
                </a:solidFill>
                <a:latin typeface="Segoe UI"/>
              </a:rPr>
              <a:t>drag_and_drop(source_elem, target_elem) wraps click-and-hold, move, and release.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Execution Flow: </a:t>
            </a:r>
            <a:r>
              <a:rPr b="0" sz="1300">
                <a:solidFill>
                  <a:srgbClr val="334155"/>
                </a:solidFill>
                <a:latin typeface="Segoe UI"/>
              </a:rPr>
              <a:t>ActionChains(driver).drag_and_drop(source, target).perform().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Implicit Wait in Selenium WebDriver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Global DOM polling mechanism for element discovery.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Implicit Wait Mechanism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Polling Mechanism: </a:t>
            </a:r>
            <a:r>
              <a:rPr b="0" sz="1300">
                <a:solidFill>
                  <a:srgbClr val="334155"/>
                </a:solidFill>
                <a:latin typeface="Segoe UI"/>
              </a:rPr>
              <a:t>Instructs WebDriver to poll the DOM continuously for a set duration when searching for elements.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Automatic Application: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Applies automatically to all find_element and find_elements calls across the session.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Exception on Expiry: </a:t>
            </a:r>
            <a:r>
              <a:rPr b="0" sz="1300">
                <a:solidFill>
                  <a:srgbClr val="334155"/>
                </a:solidFill>
                <a:latin typeface="Segoe UI"/>
              </a:rPr>
              <a:t>Throws NoSuchElementException only if element is not found after the timeout expires.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Key Characteristics &amp; Limits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Global Setting: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Configured once immediately after WebDriver initialization (driver.implicitly_wait(10)).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Duration Specified: </a:t>
            </a:r>
            <a:r>
              <a:rPr b="0" sz="1300">
                <a:solidFill>
                  <a:srgbClr val="334155"/>
                </a:solidFill>
                <a:latin typeface="Segoe UI"/>
              </a:rPr>
              <a:t>Defines maximum waiting time (in seconds) before declaring element missing.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Limitation: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Only waits for presence in DOM; does not check if element is clickable, visible, or enabled.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Explicit Wait in Selenium WebDriver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Targeted conditional synchronization using WebDriverWait and Expected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Segoe UI"/>
              </a:defRPr>
            </a:pPr>
            <a:r>
              <a:t>Explicit Wait Mechanism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Conditional Waiting: </a:t>
            </a:r>
            <a:r>
              <a:rPr b="0" sz="1300">
                <a:solidFill>
                  <a:srgbClr val="334155"/>
                </a:solidFill>
                <a:latin typeface="Segoe UI"/>
              </a:rPr>
              <a:t>Halts execution until a specific custom condition is satisfied or maximum timeout occurs.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Targeted Scope: </a:t>
            </a:r>
            <a:r>
              <a:rPr b="0" sz="1300">
                <a:solidFill>
                  <a:srgbClr val="334155"/>
                </a:solidFill>
                <a:latin typeface="Segoe UI"/>
              </a:rPr>
              <a:t>Applied on a per-element or per-action basis rather than globally across the whole session.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Core Classes: </a:t>
            </a:r>
            <a:r>
              <a:rPr b="0" sz="1300">
                <a:solidFill>
                  <a:srgbClr val="334155"/>
                </a:solidFill>
                <a:latin typeface="Segoe UI"/>
              </a:rPr>
              <a:t>Utilizes WebDriverWait and expected_conditions (EC) from selenium.webdriver.support.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Setup &amp; Expected Conditions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1: Import Modules: </a:t>
            </a:r>
            <a:r>
              <a:rPr b="0" sz="1300">
                <a:solidFill>
                  <a:srgbClr val="334155"/>
                </a:solidFill>
                <a:latin typeface="Segoe UI"/>
              </a:rPr>
              <a:t>from selenium.webdriver.support.ui import WebDriverWait
from selenium.webdriver.support import expected_conditions as EC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2: Instantiate Wait: </a:t>
            </a:r>
            <a:r>
              <a:rPr b="0" sz="1300">
                <a:solidFill>
                  <a:srgbClr val="334155"/>
                </a:solidFill>
                <a:latin typeface="Segoe UI"/>
              </a:rPr>
              <a:t>wait = WebDriverWait(driver, timeout=10)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Step 3: Define Condition: </a:t>
            </a:r>
            <a:r>
              <a:rPr b="0" sz="1300">
                <a:solidFill>
                  <a:srgbClr val="334155"/>
                </a:solidFill>
                <a:latin typeface="Segoe UI"/>
              </a:rPr>
              <a:t>wait.until(EC.element_to_be_clickable((By.ID, 'submit-btn')))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Selenium WebDriver: Summary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Key takeaways for robust, maintainable, and high-performance automated testing.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Core Architecture Recap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Locators Hierarchy: </a:t>
            </a:r>
            <a:r>
              <a:rPr b="0" sz="1300">
                <a:solidFill>
                  <a:srgbClr val="334155"/>
                </a:solidFill>
                <a:latin typeface="Segoe UI"/>
              </a:rPr>
              <a:t>Prioritize ID &gt; Name &gt; CSS Selector &gt; Relative XPath. Avoid brittle absolute XPaths.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UI Controls: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 Select class for dropdowns; handle Alerts with switch_to.alert; isolate frames with switch_to.frame.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Advanced Actions: </a:t>
            </a:r>
            <a:r>
              <a:rPr b="0" sz="1300">
                <a:solidFill>
                  <a:srgbClr val="334155"/>
                </a:solidFill>
                <a:latin typeface="Segoe UI"/>
              </a:rPr>
              <a:t>Use ActionChains for hover, context-click, and drag-and-drop; always remember .perform().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73152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Automation Best Practices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Synchronization Rule: </a:t>
            </a:r>
            <a:r>
              <a:rPr b="0" sz="1300">
                <a:solidFill>
                  <a:srgbClr val="334155"/>
                </a:solidFill>
                <a:latin typeface="Segoe UI"/>
              </a:rPr>
              <a:t>Favor Explicit Waits (WebDriverWait + EC) over fixed sleeps or mixed implicit waits.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Code Maintainability: </a:t>
            </a:r>
            <a:r>
              <a:rPr b="0" sz="1300">
                <a:solidFill>
                  <a:srgbClr val="334155"/>
                </a:solidFill>
                <a:latin typeface="Segoe UI"/>
              </a:rPr>
              <a:t>Keep locator expressions clean and decoupled from layout changes; handle dynamic IDs safely.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F172A"/>
                </a:solidFill>
                <a:latin typeface="Segoe UI"/>
              </a:rPr>
              <a:t>• Resource Cleanup: </a:t>
            </a:r>
            <a:r>
              <a:rPr b="0" sz="1300">
                <a:solidFill>
                  <a:srgbClr val="334155"/>
                </a:solidFill>
                <a:latin typeface="Segoe UI"/>
              </a:rPr>
              <a:t>Always ensure driver.quit() is called at the end of test execution to release browser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